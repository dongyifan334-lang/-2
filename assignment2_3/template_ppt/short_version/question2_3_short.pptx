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7" r:id="rId9"/>
    <p:sldId id="258" r:id="rId10"/>
    <p:sldId id="259" r:id="rId11"/>
    <p:sldId id="262" r:id="rId7"/>
    <p:sldId id="26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第1页｜研究什么？</a:t>
            </a:r>
          </a:p>
          <a:p/>
          <a:p>
            <a:r>
              <a:t>【操作提示】</a:t>
            </a:r>
          </a:p>
          <a:p>
            <a:r>
              <a:t>指三个变量和样本量。约30秒。</a:t>
            </a:r>
          </a:p>
          <a:p/>
          <a:p>
            <a:r>
              <a:t>【讲稿】</a:t>
            </a:r>
          </a:p>
          <a:p>
            <a:r>
              <a:t>我负责第二题第三小问，研究的是：在线性控制房间数以后，土地面积与房屋总价值有什么关系。这里的土地面积是地块面积，不是室内面积。大地块房子也可能有更多房间，所以我们把房间数一起放进回归。本问使用全部十万条记录，不只选五间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第2页｜两种方法有什么区别？</a:t>
            </a:r>
          </a:p>
          <a:p/>
          <a:p>
            <a:r>
              <a:t>【操作提示】</a:t>
            </a:r>
          </a:p>
          <a:p>
            <a:r>
              <a:t>依次指左、右两种设定。约50秒。</a:t>
            </a:r>
          </a:p>
          <a:p/>
          <a:p>
            <a:r>
              <a:t>【讲稿】</a:t>
            </a:r>
          </a:p>
          <a:p>
            <a:r>
              <a:t>binscatter是分箱散点方法，把土地面积划成若干区间，每个区间叫一个箱，再用代表性的拟合点展示关系。蓝点不是一套房。我们用R的binsreg工具包来计算。</a:t>
            </a:r>
          </a:p>
          <a:p/>
          <a:p>
            <a:r>
              <a:t>line后第一个数表示每段多项式次数，第二个数表示平滑约束数量。零零是在每箱内画水平线，箱间可以跳跃；二二是每箱用二次曲线，连接处高度和斜率都接得上，也就是二次样条。这两个数字不是箱数，本次两次都选出二十七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第3页｜现场运行</a:t>
            </a:r>
          </a:p>
          <a:p/>
          <a:p>
            <a:r>
              <a:t>【操作提示】</a:t>
            </a:r>
          </a:p>
          <a:p>
            <a:r>
              <a:t>切到RStudio → 设置工作目录 → Source → 等待 &gt; → print(g1) → print(g2) → 切回PPT第4页。课前安装好包；这次不点Zoom，随后用PPT并排图讲结果。约25秒，另加运行时间。</a:t>
            </a:r>
          </a:p>
          <a:p/>
          <a:p>
            <a:r>
              <a:t>【讲稿】</a:t>
            </a:r>
          </a:p>
          <a:p>
            <a:r>
              <a:t>这里沿用老师的核心代码。y是总价值，x是土地面积，w是房间数。两次的变量相同，主要区别是line设置。现在我运行整份脚本，并显示两张刚生成的图。</a:t>
            </a:r>
          </a:p>
          <a:p/>
          <a:p>
            <a:r>
              <a:t>【运行完成后】下面切回PPT，把结果放在一起比较。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第4页｜比较两张图</a:t>
            </a:r>
          </a:p>
          <a:p/>
          <a:p>
            <a:r>
              <a:t>【操作提示】</a:t>
            </a:r>
          </a:p>
          <a:p>
            <a:r>
              <a:t>先指左图的长横线，再指右图的尾部；两图纵轴尺度相同。约45秒。</a:t>
            </a:r>
          </a:p>
          <a:p/>
          <a:p>
            <a:r>
              <a:t>【讲稿】</a:t>
            </a:r>
          </a:p>
          <a:p>
            <a:r>
              <a:t>左图每箱内保持水平。最后一箱覆盖一点五到四英亩，所以有一条长横线。这是模型设定造成的，不表示实际房屋价值完全相同。</a:t>
            </a:r>
          </a:p>
          <a:p/>
          <a:p>
            <a:r>
              <a:t>右图允许箱内弯曲，因此最后一个区间仍能继续上升。两种结果都显示：小地块区域有起伏，较大地块区域总体正向，但具体形状会受拟合方式影响。更平滑不保证更准确。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第5页｜结论与衔接</a:t>
            </a:r>
          </a:p>
          <a:p/>
          <a:p>
            <a:r>
              <a:t>【操作提示】</a:t>
            </a:r>
          </a:p>
          <a:p>
            <a:r>
              <a:t>说完即交给下一位同学。约20秒。</a:t>
            </a:r>
          </a:p>
          <a:p/>
          <a:p>
            <a:r>
              <a:t>【讲稿】</a:t>
            </a:r>
          </a:p>
          <a:p>
            <a:r>
              <a:t>总结来说，控制房间数后，土地面积与房屋总价值的关系不是简单的一条直线。不过，地段、房龄等因素仍可能影响结果，不能直接作因果解释。接下来由下一位同学分析五间房的样本。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土地面积与房屋总价值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52760" cy="9144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0">
                <a:solidFill>
                  <a:srgbClr val="17232D"/>
                </a:solidFill>
                <a:latin typeface="Microsoft YaHei"/>
                <a:ea typeface="Microsoft YaHei"/>
              </a:rPr>
              <a:t>考虑房间数差异后，</a:t>
            </a:r>
          </a:p>
          <a:p>
            <a:pPr algn="l">
              <a:spcAft>
                <a:spcPts val="1000"/>
              </a:spcAft>
            </a:pPr>
            <a:r>
              <a:rPr sz="2900" b="0">
                <a:solidFill>
                  <a:srgbClr val="17232D"/>
                </a:solidFill>
                <a:latin typeface="Microsoft YaHei"/>
                <a:ea typeface="Microsoft YaHei"/>
              </a:rPr>
              <a:t>土地更大的房子，总价值通常也更高吗？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788920"/>
            <a:ext cx="10241280" cy="0"/>
          </a:xfrm>
          <a:prstGeom prst="line">
            <a:avLst/>
          </a:prstGeom>
          <a:ln w="12700">
            <a:solidFill>
              <a:srgbClr val="D4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2326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18211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看什么结果？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3749039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total_value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房屋总价值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320040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2326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318211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研究什么关系？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749039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lot_size_acres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土地面积，单位英亩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320040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22326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3182112"/>
            <a:ext cx="2679191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一起考虑什么？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3749039"/>
            <a:ext cx="2679191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n_rooms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房间数，线性控制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03520"/>
            <a:ext cx="10287000" cy="621792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04104"/>
            <a:ext cx="9966960" cy="4114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67A0"/>
                </a:solidFill>
                <a:latin typeface="Microsoft YaHei"/>
                <a:ea typeface="Microsoft YaHei"/>
              </a:rPr>
              <a:t>使用全部 100,000 条记录，没有只保留五间房。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两种方法：同一批房子，不同的拟合方式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61772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 b="0">
                <a:solidFill>
                  <a:srgbClr val="2867A0"/>
                </a:solidFill>
                <a:latin typeface="Consolas"/>
                <a:ea typeface="Consolas"/>
              </a:rPr>
              <a:t>line = c(0,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1772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 b="0">
                <a:solidFill>
                  <a:srgbClr val="2867A0"/>
                </a:solidFill>
                <a:latin typeface="Consolas"/>
                <a:ea typeface="Consolas"/>
              </a:rPr>
              <a:t>line = c(2,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526280" cy="15544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 b="0">
                <a:solidFill>
                  <a:srgbClr val="17232D"/>
                </a:solidFill>
                <a:latin typeface="Microsoft YaHei"/>
                <a:ea typeface="Microsoft YaHei"/>
              </a:rPr>
              <a:t>每个区间内使用固定值</a:t>
            </a:r>
          </a:p>
          <a:p>
            <a:pPr algn="l">
              <a:spcAft>
                <a:spcPts val="1000"/>
              </a:spcAft>
            </a:pPr>
            <a:r>
              <a:rPr sz="2500" b="0">
                <a:solidFill>
                  <a:srgbClr val="17232D"/>
                </a:solidFill>
                <a:latin typeface="Microsoft YaHei"/>
                <a:ea typeface="Microsoft YaHei"/>
              </a:rPr>
              <a:t>相邻区间可以跳跃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4526280" cy="15544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 b="0">
                <a:solidFill>
                  <a:srgbClr val="17232D"/>
                </a:solidFill>
                <a:latin typeface="Microsoft YaHei"/>
                <a:ea typeface="Microsoft YaHei"/>
              </a:rPr>
              <a:t>每个区间内允许弯曲</a:t>
            </a:r>
          </a:p>
          <a:p>
            <a:pPr algn="l">
              <a:spcAft>
                <a:spcPts val="1000"/>
              </a:spcAft>
            </a:pPr>
            <a:r>
              <a:rPr sz="2500" b="0">
                <a:solidFill>
                  <a:srgbClr val="17232D"/>
                </a:solidFill>
                <a:latin typeface="Microsoft YaHei"/>
                <a:ea typeface="Microsoft YaHei"/>
              </a:rPr>
              <a:t>相邻区间平滑连接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4572000"/>
            <a:ext cx="1005840" cy="0"/>
          </a:xfrm>
          <a:prstGeom prst="line">
            <a:avLst/>
          </a:prstGeom>
          <a:ln w="3810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86000" y="4206240"/>
            <a:ext cx="1005840" cy="0"/>
          </a:xfrm>
          <a:prstGeom prst="line">
            <a:avLst/>
          </a:prstGeom>
          <a:ln w="3810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91840" y="4434840"/>
            <a:ext cx="914400" cy="0"/>
          </a:xfrm>
          <a:prstGeom prst="line">
            <a:avLst/>
          </a:prstGeom>
          <a:ln w="3810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06240" y="3977639"/>
            <a:ext cx="1097280" cy="0"/>
          </a:xfrm>
          <a:prstGeom prst="line">
            <a:avLst/>
          </a:prstGeom>
          <a:ln w="3810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766560" y="4550991"/>
            <a:ext cx="47548" cy="2100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814108" y="4530120"/>
            <a:ext cx="47549" cy="2087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61657" y="4509520"/>
            <a:ext cx="47549" cy="2060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909206" y="4489326"/>
            <a:ext cx="47549" cy="2019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956755" y="4469665"/>
            <a:ext cx="47549" cy="1966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04304" y="4450662"/>
            <a:ext cx="47548" cy="19003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051852" y="4432432"/>
            <a:ext cx="47549" cy="1823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99401" y="4415085"/>
            <a:ext cx="47549" cy="1734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46950" y="4398722"/>
            <a:ext cx="47549" cy="16363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94499" y="4383431"/>
            <a:ext cx="47549" cy="1529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242048" y="4369294"/>
            <a:ext cx="47548" cy="1413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89596" y="4356379"/>
            <a:ext cx="47549" cy="1291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37145" y="4344740"/>
            <a:ext cx="47549" cy="1163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384694" y="4334422"/>
            <a:ext cx="47549" cy="1031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432243" y="4325455"/>
            <a:ext cx="47549" cy="896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479792" y="4317855"/>
            <a:ext cx="47548" cy="760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527340" y="4311624"/>
            <a:ext cx="47549" cy="623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574889" y="4306753"/>
            <a:ext cx="47549" cy="487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22438" y="4303216"/>
            <a:ext cx="47549" cy="353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669987" y="4300976"/>
            <a:ext cx="47549" cy="224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717536" y="4299983"/>
            <a:ext cx="47548" cy="993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65084" y="4299983"/>
            <a:ext cx="47549" cy="18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12633" y="4300172"/>
            <a:ext cx="47549" cy="129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60182" y="4301469"/>
            <a:ext cx="47549" cy="231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907731" y="4303788"/>
            <a:ext cx="47549" cy="324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955280" y="4307033"/>
            <a:ext cx="47548" cy="406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02828" y="4311098"/>
            <a:ext cx="47549" cy="477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50377" y="4315870"/>
            <a:ext cx="47549" cy="535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97926" y="4321227"/>
            <a:ext cx="47549" cy="581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145475" y="4327043"/>
            <a:ext cx="47549" cy="614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193024" y="4333187"/>
            <a:ext cx="47548" cy="633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40572" y="4339525"/>
            <a:ext cx="47549" cy="639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88121" y="4345920"/>
            <a:ext cx="47549" cy="631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335670" y="4352234"/>
            <a:ext cx="47549" cy="609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83219" y="4358333"/>
            <a:ext cx="47549" cy="574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430768" y="4364081"/>
            <a:ext cx="47548" cy="526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78316" y="4369348"/>
            <a:ext cx="47549" cy="466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525865" y="4374009"/>
            <a:ext cx="47549" cy="393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573414" y="4377944"/>
            <a:ext cx="47549" cy="309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620963" y="4381041"/>
            <a:ext cx="47549" cy="215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668512" y="4383195"/>
            <a:ext cx="47548" cy="111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16060" y="4384306"/>
            <a:ext cx="47549" cy="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763609" y="4383107"/>
            <a:ext cx="47549" cy="119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811158" y="4380652"/>
            <a:ext cx="47549" cy="245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58707" y="4376894"/>
            <a:ext cx="47549" cy="375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906256" y="4371795"/>
            <a:ext cx="47548" cy="509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953804" y="4365335"/>
            <a:ext cx="47549" cy="646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001353" y="4357504"/>
            <a:ext cx="47549" cy="783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048902" y="4348308"/>
            <a:ext cx="47549" cy="919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096451" y="4337766"/>
            <a:ext cx="47549" cy="1054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144000" y="4325909"/>
            <a:ext cx="47548" cy="1185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191548" y="4312784"/>
            <a:ext cx="47549" cy="1312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239097" y="4298448"/>
            <a:ext cx="47549" cy="1433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286646" y="4282971"/>
            <a:ext cx="47549" cy="1547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334195" y="4266435"/>
            <a:ext cx="47549" cy="1653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381744" y="4248933"/>
            <a:ext cx="47548" cy="1750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429292" y="4230565"/>
            <a:ext cx="47549" cy="1836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476841" y="4211443"/>
            <a:ext cx="47549" cy="1912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524390" y="4191684"/>
            <a:ext cx="47549" cy="1975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571939" y="4171412"/>
            <a:ext cx="47549" cy="2027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619488" y="4150758"/>
            <a:ext cx="47548" cy="2065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667036" y="4129854"/>
            <a:ext cx="47549" cy="2090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714585" y="4108836"/>
            <a:ext cx="47549" cy="2101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762134" y="4087841"/>
            <a:ext cx="47549" cy="2099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809683" y="4067006"/>
            <a:ext cx="47549" cy="2083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857232" y="4046465"/>
            <a:ext cx="47548" cy="2054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904780" y="4026352"/>
            <a:ext cx="47549" cy="20113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952329" y="4006793"/>
            <a:ext cx="47549" cy="1955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999878" y="3987912"/>
            <a:ext cx="47549" cy="1888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047427" y="3969823"/>
            <a:ext cx="47549" cy="1808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094976" y="3952635"/>
            <a:ext cx="47548" cy="1718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142524" y="3936446"/>
            <a:ext cx="47549" cy="1618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190073" y="3921344"/>
            <a:ext cx="47549" cy="1510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237622" y="3907408"/>
            <a:ext cx="47549" cy="1393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285171" y="3894703"/>
            <a:ext cx="47549" cy="1270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332720" y="3883284"/>
            <a:ext cx="47548" cy="1141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380268" y="3873192"/>
            <a:ext cx="47549" cy="1009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427817" y="3864454"/>
            <a:ext cx="47549" cy="873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475366" y="3857084"/>
            <a:ext cx="47549" cy="737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60120" y="5559552"/>
            <a:ext cx="1024128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300" b="0">
                <a:solidFill>
                  <a:srgbClr val="2867A0"/>
                </a:solidFill>
                <a:latin typeface="Microsoft YaHei"/>
                <a:ea typeface="Microsoft YaHei"/>
              </a:rPr>
              <a:t>本次两种方法均选出 27 个区间；0 和 2 不是箱数。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现场运行：沿用老师的 binsreg 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5989320" cy="443484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10512"/>
            <a:ext cx="5532120" cy="32004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m1 &lt;- binsreg(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y = parcels$total_value,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x = parcels$lot_size_acres,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w = parcels[, "n_rooms",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            drop = FALSE],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line = c(0, 0)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548640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867A0"/>
                </a:solidFill>
                <a:latin typeface="Microsoft YaHei"/>
                <a:ea typeface="Microsoft YaHei"/>
              </a:rPr>
              <a:t>第二次同样调用，存为 m2；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867A0"/>
                </a:solidFill>
                <a:latin typeface="Microsoft YaHei"/>
                <a:ea typeface="Microsoft YaHei"/>
              </a:rPr>
              <a:t>只将 line 改为 c(2, 2)。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83080"/>
            <a:ext cx="3840480" cy="7315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7232D"/>
                </a:solidFill>
                <a:latin typeface="Microsoft YaHei"/>
                <a:ea typeface="Microsoft YaHei"/>
              </a:rPr>
              <a:t>两次都相同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60320"/>
            <a:ext cx="3840480" cy="14630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y：房屋总价值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x：土地面积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w：房间数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4160520"/>
            <a:ext cx="3794760" cy="0"/>
          </a:xfrm>
          <a:prstGeom prst="line">
            <a:avLst/>
          </a:prstGeom>
          <a:ln w="12700">
            <a:solidFill>
              <a:srgbClr val="D4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0" y="4389120"/>
            <a:ext cx="3840480" cy="11887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67A0"/>
                </a:solidFill>
                <a:latin typeface="Microsoft YaHei"/>
                <a:ea typeface="Microsoft YaHei"/>
              </a:rPr>
              <a:t>点击 Source 重新运行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67A0"/>
                </a:solidFill>
                <a:latin typeface="Microsoft YaHei"/>
                <a:ea typeface="Microsoft YaHei"/>
              </a:rPr>
              <a:t>再用 print(g1)、print(g2) 展示结果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比较：整体趋势相近，局部形状不同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04</a:t>
            </a:r>
          </a:p>
        </p:txBody>
      </p:sp>
      <p:pic>
        <p:nvPicPr>
          <p:cNvPr id="6" name="Picture 5" descr="comparis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10789920" cy="39839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32720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67A0"/>
                </a:solidFill>
                <a:latin typeface="Microsoft YaHei"/>
                <a:ea typeface="Microsoft YaHei"/>
              </a:rPr>
              <a:t>共同点：较大地块总体正向。差异：是否允许同一箱内变化。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本小问结论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878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2763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使用全样本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94560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94560"/>
            <a:ext cx="932688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66571"/>
                </a:solidFill>
                <a:latin typeface="Microsoft YaHei"/>
                <a:ea typeface="Microsoft YaHei"/>
              </a:rPr>
              <a:t>100,000 条记录，线性控制房间数。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0322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6207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两种设定共同显示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429000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429000"/>
            <a:ext cx="932688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66571"/>
                </a:solidFill>
                <a:latin typeface="Microsoft YaHei"/>
                <a:ea typeface="Microsoft YaHei"/>
              </a:rPr>
              <a:t>小地块有起伏，较大地块总体正向。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3766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09651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解释时保持边界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663440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663440"/>
            <a:ext cx="932688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66571"/>
                </a:solidFill>
                <a:latin typeface="Microsoft YaHei"/>
                <a:ea typeface="Microsoft YaHei"/>
              </a:rPr>
              <a:t>形状受设定影响，不能直接解释为因果效应。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806440"/>
            <a:ext cx="1014984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300" b="0">
                <a:solidFill>
                  <a:srgbClr val="2867A0"/>
                </a:solidFill>
                <a:latin typeface="Microsoft YaHei"/>
                <a:ea typeface="Microsoft YaHei"/>
              </a:rPr>
              <a:t>下一问：只保留五间房的房子，结果还一样吗？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WPS 文字</Application>
  <PresentationFormat>宽屏</PresentationFormat>
  <Paragraphs>157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方正大黑_GBK</vt:lpstr>
      <vt:lpstr>汉仪中黑KW</vt:lpstr>
      <vt:lpstr>Songti SC</vt:lpstr>
      <vt:lpstr>Songti SC Regular</vt:lpstr>
      <vt:lpstr>方正兰亭黑_GBK</vt:lpstr>
      <vt:lpstr>Arial Unicode MS</vt:lpstr>
      <vt:lpstr>微软雅黑</vt:lpstr>
      <vt:lpstr>苹方-简</vt:lpstr>
      <vt:lpstr>微软雅黑</vt:lpstr>
      <vt:lpstr>汉仪旗黑</vt:lpstr>
      <vt:lpstr>汉仪书宋二KW</vt:lpstr>
      <vt:lpstr>宋体</vt:lpstr>
      <vt:lpstr>微软雅黑</vt:lpstr>
      <vt:lpstr>方正兰亭黑_GBK</vt:lpstr>
      <vt:lpstr>方正大黑_GBK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第二题第（3）问：5页精简版</dc:title>
  <dc:creator/>
  <cp:lastModifiedBy/>
  <cp:revision>166</cp:revision>
  <dcterms:created xsi:type="dcterms:W3CDTF">2026-10-20T06:59:09Z</dcterms:created>
  <dcterms:modified xsi:type="dcterms:W3CDTF">2026-10-20T06:59:09Z</dcterms:modified>
  <dc:subject>依据用户提供的小组 PPT 模板制作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E8651697A6756D828309D76A64792FB4_43</vt:lpwstr>
  </property>
</Properties>
</file>