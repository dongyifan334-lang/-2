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7"/>
    <p:sldId id="263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78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第1页｜土地面积与房屋总价值</a:t>
            </a:r>
          </a:p>
          <a:p/>
          <a:p>
            <a:r>
              <a:t>【操作提示】</a:t>
            </a:r>
          </a:p>
          <a:p>
            <a:r>
              <a:t>展示第1页。开场后翻到第2页。</a:t>
            </a:r>
          </a:p>
          <a:p/>
          <a:p>
            <a:r>
              <a:t>【上台讲稿】</a:t>
            </a:r>
          </a:p>
          <a:p>
            <a:r>
              <a:t>大家好，我负责第二题的第三小问。这一问研究的是：在线性控制房间数以后，土地面积与房屋总价值之间有什么关系。</a:t>
            </a:r>
          </a:p>
          <a:p/>
          <a:p>
            <a:r>
              <a:t>我会先说明题目和分析方法，再用老师提供的代码现场运行，最后比较两种设定下的结果。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第2页｜这一问要我们做什么？</a:t>
            </a:r>
          </a:p>
          <a:p/>
          <a:p>
            <a:r>
              <a:t>【操作提示】</a:t>
            </a:r>
          </a:p>
          <a:p>
            <a:r>
              <a:t>指向页面上的三个变量，再指向下方的样本量。</a:t>
            </a:r>
          </a:p>
          <a:p/>
          <a:p>
            <a:r>
              <a:t>【上台讲稿】</a:t>
            </a:r>
          </a:p>
          <a:p>
            <a:r>
              <a:t>这一问可以用一句话理解：把房间数的差异考虑进去以后，土地更大的房子，总价值通常也更高吗？</a:t>
            </a:r>
          </a:p>
          <a:p/>
          <a:p>
            <a:r>
              <a:t>我们关注三个变量。第一个是 total_value，也就是房屋总价值；第二个是 lot_size_acres，也就是土地面积，单位是英亩。这里是地块面积，不是室内面积。第三个是 n_rooms，也就是房间数。</a:t>
            </a:r>
          </a:p>
          <a:p/>
          <a:p>
            <a:r>
              <a:t>为什么要考虑房间数？因为土地较大的房子，也可能有更多房间。如果不把房间数放进模型，就不容易区分这些差异。因此，本题把房间数作为线性控制变量加入回归。</a:t>
            </a:r>
          </a:p>
          <a:p/>
          <a:p>
            <a:r>
              <a:t>这里的“线性控制”，是用一个由数据估计的固定系数乘上房间数，放进模型。它不是只挑同样房间数的房子。本问使用全部十万条记录，没有限制为五间房。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第3页｜两种方法：同一批房子，不同的拟合方式</a:t>
            </a:r>
          </a:p>
          <a:p/>
          <a:p>
            <a:r>
              <a:t>【操作提示】</a:t>
            </a:r>
          </a:p>
          <a:p>
            <a:r>
              <a:t>先解释“箱”，然后分别指向左、右两种设定。页面下方的27是实际箱数。</a:t>
            </a:r>
          </a:p>
          <a:p/>
          <a:p>
            <a:r>
              <a:t>【上台讲稿】</a:t>
            </a:r>
          </a:p>
          <a:p>
            <a:r>
              <a:t>这里先解释一个术语：binscatter，可以理解为分箱散点方法。我们把横轴上的土地面积划分成若干区间，每个区间就叫一个“箱”，再用代表性的拟合点展示关系。所以，一个蓝点不是一套房子。</a:t>
            </a:r>
          </a:p>
          <a:p/>
          <a:p>
            <a:r>
              <a:t>我们使用 R 的 binsreg 工具包来做这项分析，同时在线性回归中考虑房间数。binscatter 是方法名称，binsreg 是我们使用的工具包名称，里面的 binsreg 函数负责执行估计。</a:t>
            </a:r>
          </a:p>
          <a:p/>
          <a:p>
            <a:r>
              <a:t>老师要求比较两种拟合线。line 后面的两个数字，分别表示每段多项式的次数，以及连接处的平滑约束数量。</a:t>
            </a:r>
          </a:p>
          <a:p/>
          <a:p>
            <a:r>
              <a:t>左边是 line 等于 c 零零。第一个零表示每段是零次多项式，也就是常数；第二个零表示不要求连接处连续。通俗地说，每个箱内画水平线，箱与箱之间可以跳跃。</a:t>
            </a:r>
          </a:p>
          <a:p/>
          <a:p>
            <a:r>
              <a:t>右边是 line 等于 c 二二。第一个二表示每段可以用二次曲线；第二个二要求相邻区间的高度和斜率都接得上，也就是平滑连接。这叫二次样条。</a:t>
            </a:r>
          </a:p>
          <a:p/>
          <a:p>
            <a:r>
              <a:t>因此，两种设置的区别，是同一个箱里能不能表达弯曲变化。这两个数字不是分箱数量。本次两次分析都选出了二十七个箱。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第4页｜现场运行：沿用老师的 binsreg 代码</a:t>
            </a:r>
          </a:p>
          <a:p/>
          <a:p>
            <a:r>
              <a:t>【操作提示】</a:t>
            </a:r>
          </a:p>
          <a:p>
            <a:r>
              <a:t>先在PPT指着y、x、w和line讲解，再按以下顺序操作：</a:t>
            </a:r>
          </a:p>
          <a:p>
            <a:r>
              <a:t>1. Alt+Tab切换到RStudio，打开question2_3.R。</a:t>
            </a:r>
          </a:p>
          <a:p>
            <a:r>
              <a:t>2. Session → Set Working Directory → To Source File Location。</a:t>
            </a:r>
          </a:p>
          <a:p>
            <a:r>
              <a:t>3. 点击Source，等待Console重新出现 &gt;。不要运行install.R。</a:t>
            </a:r>
          </a:p>
          <a:p>
            <a:r>
              <a:t>4. 在Console输入print(g1)，按回车，点Zoom；展示后关闭放大窗口。</a:t>
            </a:r>
          </a:p>
          <a:p>
            <a:r>
              <a:t>5. 输入print(g2)，按回车，点Zoom；展示后关闭放大窗口。</a:t>
            </a:r>
          </a:p>
          <a:p>
            <a:r>
              <a:t>6. Alt+Tab切回PPT，进入第5页。接下来用PPT里的图详细解释。</a:t>
            </a:r>
          </a:p>
          <a:p>
            <a:r>
              <a:t>学校电脑上的软件与包必须在课前准备好。</a:t>
            </a:r>
          </a:p>
          <a:p/>
          <a:p>
            <a:r>
              <a:t>【上台讲稿】</a:t>
            </a:r>
          </a:p>
          <a:p>
            <a:r>
              <a:t>这里展示的是老师提供的核心回归代码。y 指定房屋总价值，x 指定土地面积，w 指定房间数。两次回归的这三个变量完全相同，主要区别就是 line 的设定。</a:t>
            </a:r>
          </a:p>
          <a:p/>
          <a:p>
            <a:r>
              <a:t>第一组结果存为 m1，第二组存为 m2。每次调用前，我都设置相同随机种子，帮助重复比较。脚本后半部分给图加标题，并保存图片和模型摘要。</a:t>
            </a:r>
          </a:p>
          <a:p/>
          <a:p>
            <a:r>
              <a:t>现在我切换到 RStudio，现场重新运行整份脚本。</a:t>
            </a:r>
          </a:p>
          <a:p/>
          <a:p>
            <a:r>
              <a:t>【点击 Source 后等待，不需要一直说话。】</a:t>
            </a:r>
          </a:p>
          <a:p/>
          <a:p>
            <a:r>
              <a:t>程序运行完成，我分别显示两张刚生成的图。后面的PPT使用相同设定得到的图，方便大家看清细节。现在切回PPT，先看第一张。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第5页｜第一种结果：每个区间内是一条水平线</a:t>
            </a:r>
          </a:p>
          <a:p/>
          <a:p>
            <a:r>
              <a:t>【操作提示】</a:t>
            </a:r>
          </a:p>
          <a:p>
            <a:r>
              <a:t>指横轴和纵轴，再指向右侧长横线。若有人问是否是置信区间，使用文末备用回答。</a:t>
            </a:r>
          </a:p>
          <a:p/>
          <a:p>
            <a:r>
              <a:t>【上台讲稿】</a:t>
            </a:r>
          </a:p>
          <a:p>
            <a:r>
              <a:t>先看坐标。横轴往右，表示土地面积越来越大；纵轴往上，表示拟合的房屋总价值越高。模型已经把房间数纳入考虑，图形默认在样本平均房间数处展示拟合值，所以蓝点不能直接当作原始平均房价。</a:t>
            </a:r>
          </a:p>
          <a:p/>
          <a:p>
            <a:r>
              <a:t>第一种设定中，每个区间内的拟合值固定，箱与箱之间可以跳跃。左边有些区间比较窄，水平线很短，看起来就像只有一个点。</a:t>
            </a:r>
          </a:p>
          <a:p/>
          <a:p>
            <a:r>
              <a:t>右边这条长横线对应最后一个箱，覆盖一点五到四英亩。因为这个设定只允许箱内使用一个固定值，所以整段都是水平线。</a:t>
            </a:r>
          </a:p>
          <a:p/>
          <a:p>
            <a:r>
              <a:t>这不表示实际房屋价值完全一样，也不能解释成土地超过一点五英亩以后，继续增加就没有价值。水平线首先来自我们的拟合方式。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第6页｜第二种结果：允许区间内弯曲变化</a:t>
            </a:r>
          </a:p>
          <a:p/>
          <a:p>
            <a:r>
              <a:t>【操作提示】</a:t>
            </a:r>
          </a:p>
          <a:p>
            <a:r>
              <a:t>指左侧起伏，再沿约1英亩以后的曲线向右说明走势。</a:t>
            </a:r>
          </a:p>
          <a:p/>
          <a:p>
            <a:r>
              <a:t>【上台讲稿】</a:t>
            </a:r>
          </a:p>
          <a:p>
            <a:r>
              <a:t>第二种设定允许每个区间内使用二次曲线，并在连接处保持平滑，所以能够展示第一种方法没有表达的箱内变化。</a:t>
            </a:r>
          </a:p>
          <a:p/>
          <a:p>
            <a:r>
              <a:t>从图上看，小地块区域的曲线有升有降，并不是土地面积越大，拟合价值就始终越高。较大地块区域，约一英亩以后，拟合价值总体上升，而且在最后一个较宽的区间里仍然能够继续变化。</a:t>
            </a:r>
          </a:p>
          <a:p/>
          <a:p>
            <a:r>
              <a:t>这张图更平滑，但平滑是设定的性质，不能单凭这一点就说它一定更准确。图里没有画置信区间，我们也不判断每一次局部上升或下降是否统计显著。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第7页｜比较：整体趋势相近，局部形状不同</a:t>
            </a:r>
          </a:p>
          <a:p/>
          <a:p>
            <a:r>
              <a:t>【操作提示】</a:t>
            </a:r>
          </a:p>
          <a:p>
            <a:r>
              <a:t>指向并排的两张图，说明这一页使用相同纵轴尺度。</a:t>
            </a:r>
          </a:p>
          <a:p/>
          <a:p>
            <a:r>
              <a:t>【上台讲稿】</a:t>
            </a:r>
          </a:p>
          <a:p>
            <a:r>
              <a:t>现在把两种结果放在一起比较。这一页使用相同的纵轴尺度，避免原来两张单图的自动刻度影响视觉判断。</a:t>
            </a:r>
          </a:p>
          <a:p/>
          <a:p>
            <a:r>
              <a:t>两种方法的共同点是：小地块区域有起伏，较大地块区域总体呈正向关系。因此，这种关系不适合简单概括为一条固定斜率的直线。</a:t>
            </a:r>
          </a:p>
          <a:p/>
          <a:p>
            <a:r>
              <a:t>区别在于第一种方法箱内保持水平，第二种允许箱内弯曲。特别是最后一个较宽的区间，两种方法呈现了不同走势。这说明局部形状和尾部走势会受到拟合设定影响。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第8页｜本小问结论</a:t>
            </a:r>
          </a:p>
          <a:p/>
          <a:p>
            <a:r>
              <a:t>【操作提示】</a:t>
            </a:r>
          </a:p>
          <a:p>
            <a:r>
              <a:t>依次指向三点结论，最后衔接下一位同学。</a:t>
            </a:r>
          </a:p>
          <a:p/>
          <a:p>
            <a:r>
              <a:t>【上台讲稿】</a:t>
            </a:r>
          </a:p>
          <a:p>
            <a:r>
              <a:t>总结一下，我使用全部十万条记录，在线性控制房间数以后，比较了老师要求的两种分箱回归设定。</a:t>
            </a:r>
          </a:p>
          <a:p/>
          <a:p>
            <a:r>
              <a:t>结果显示，小地块区域有起伏，较大地块区域总体呈正向关系；但具体形状会随着拟合方式改变。</a:t>
            </a:r>
          </a:p>
          <a:p/>
          <a:p>
            <a:r>
              <a:t>最后，这里是控制房间数后的统计关系。地段、房龄等因素仍可能影响结果，因此不能直接说增加土地面积就会造成房屋价值上涨。</a:t>
            </a:r>
          </a:p>
          <a:p/>
          <a:p>
            <a:r>
              <a:t>下面交给下一位同学，在只保留五间房的样本中重复分析，并进一步讨论结果和因果解释。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7.xml"/><Relationship Id="rId13" Type="http://schemas.openxmlformats.org/officeDocument/2006/relationships/tags" Target="../tags/tag58.xml"/><Relationship Id="rId14" Type="http://schemas.openxmlformats.org/officeDocument/2006/relationships/tags" Target="../tags/tag59.xml"/><Relationship Id="rId15" Type="http://schemas.openxmlformats.org/officeDocument/2006/relationships/tags" Target="../tags/tag60.xml"/><Relationship Id="rId16" Type="http://schemas.openxmlformats.org/officeDocument/2006/relationships/tags" Target="../tags/tag61.xml"/><Relationship Id="rId17" Type="http://schemas.openxmlformats.org/officeDocument/2006/relationships/tags" Target="../tags/tag62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7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7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7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7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0" y="0"/>
            <a:ext cx="4370522" cy="6858000"/>
          </a:xfrm>
          <a:prstGeom prst="rect">
            <a:avLst/>
          </a:prstGeom>
          <a:solidFill>
            <a:srgbClr val="102940"/>
          </a:solidFill>
          <a:ln w="12700" cap="flat" cmpd="sng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>
            <a:off x="1213711" y="1855833"/>
            <a:ext cx="1943100" cy="19431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>
              <a:solidFill>
                <a:schemeClr val="bg1"/>
              </a:solidFill>
            </a:endParaRPr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807" y="2262779"/>
            <a:ext cx="1129208" cy="11292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2057400"/>
            <a:ext cx="6035040" cy="5486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2867A0"/>
                </a:solidFill>
                <a:latin typeface="Microsoft YaHei"/>
                <a:ea typeface="Microsoft YaHei"/>
              </a:rPr>
              <a:t>第二题  第（3）问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971800"/>
            <a:ext cx="6492240" cy="118872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0">
                <a:solidFill>
                  <a:srgbClr val="17232D"/>
                </a:solidFill>
                <a:latin typeface="Microsoft YaHei"/>
                <a:ea typeface="Microsoft YaHei"/>
              </a:rPr>
              <a:t>土地面积与房屋总价值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389120"/>
            <a:ext cx="5852160" cy="73152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66571"/>
                </a:solidFill>
                <a:latin typeface="Microsoft YaHei"/>
                <a:ea typeface="Microsoft YaHei"/>
              </a:rPr>
              <a:t>全样本分析 · 线性控制房间数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84632"/>
            <a:ext cx="10424160" cy="5943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17232D"/>
                </a:solidFill>
                <a:latin typeface="Microsoft YaHei"/>
                <a:ea typeface="Microsoft YaHei"/>
              </a:rPr>
              <a:t>这一问要我们做什么？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557784"/>
            <a:ext cx="118872" cy="393192"/>
          </a:xfrm>
          <a:prstGeom prst="rect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55664"/>
            <a:ext cx="9875520" cy="21945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第二题 · 第（3）问  /  全样本分箱回归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457200" cy="2286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r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0652760" cy="9144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900" b="0">
                <a:solidFill>
                  <a:srgbClr val="17232D"/>
                </a:solidFill>
                <a:latin typeface="Microsoft YaHei"/>
                <a:ea typeface="Microsoft YaHei"/>
              </a:rPr>
              <a:t>考虑房间数差异后，</a:t>
            </a:r>
          </a:p>
          <a:p>
            <a:pPr algn="l">
              <a:spcAft>
                <a:spcPts val="1000"/>
              </a:spcAft>
            </a:pPr>
            <a:r>
              <a:rPr sz="2900" b="0">
                <a:solidFill>
                  <a:srgbClr val="17232D"/>
                </a:solidFill>
                <a:latin typeface="Microsoft YaHei"/>
                <a:ea typeface="Microsoft YaHei"/>
              </a:rPr>
              <a:t>土地更大的房子，总价值通常也更高吗？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2788920"/>
            <a:ext cx="10241280" cy="0"/>
          </a:xfrm>
          <a:prstGeom prst="line">
            <a:avLst/>
          </a:prstGeom>
          <a:ln w="12700">
            <a:solidFill>
              <a:srgbClr val="D4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914400" y="3200400"/>
            <a:ext cx="457200" cy="457200"/>
          </a:xfrm>
          <a:prstGeom prst="ellipse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23260"/>
            <a:ext cx="457200" cy="329184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3182112"/>
            <a:ext cx="3474720" cy="438912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7232D"/>
                </a:solidFill>
                <a:latin typeface="Microsoft YaHei"/>
                <a:ea typeface="Microsoft YaHei"/>
              </a:rPr>
              <a:t>看什么结果？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3749039"/>
            <a:ext cx="3474720" cy="7772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>total_value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>房屋总价值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0" y="3200400"/>
            <a:ext cx="457200" cy="457200"/>
          </a:xfrm>
          <a:prstGeom prst="ellipse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223260"/>
            <a:ext cx="457200" cy="329184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3182112"/>
            <a:ext cx="3474720" cy="438912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7232D"/>
                </a:solidFill>
                <a:latin typeface="Microsoft YaHei"/>
                <a:ea typeface="Microsoft YaHei"/>
              </a:rPr>
              <a:t>研究什么关系？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3749039"/>
            <a:ext cx="3474720" cy="7772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>lot_size_acres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>土地面积，单位英亩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0" y="3200400"/>
            <a:ext cx="457200" cy="457200"/>
          </a:xfrm>
          <a:prstGeom prst="ellipse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223260"/>
            <a:ext cx="457200" cy="329184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182112"/>
            <a:ext cx="2679191" cy="438912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7232D"/>
                </a:solidFill>
                <a:latin typeface="Microsoft YaHei"/>
                <a:ea typeface="Microsoft YaHei"/>
              </a:rPr>
              <a:t>一起考虑什么？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8" y="3749039"/>
            <a:ext cx="2679191" cy="7772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>n_rooms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>房间数，线性控制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303520"/>
            <a:ext cx="10287000" cy="621792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404104"/>
            <a:ext cx="9966960" cy="4114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67A0"/>
                </a:solidFill>
                <a:latin typeface="Microsoft YaHei"/>
                <a:ea typeface="Microsoft YaHei"/>
              </a:rPr>
              <a:t>使用全部 100,000 条记录，没有只保留五间房。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84632"/>
            <a:ext cx="10424160" cy="5943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17232D"/>
                </a:solidFill>
                <a:latin typeface="Microsoft YaHei"/>
                <a:ea typeface="Microsoft YaHei"/>
              </a:rPr>
              <a:t>两种方法：同一批房子，不同的拟合方式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557784"/>
            <a:ext cx="118872" cy="393192"/>
          </a:xfrm>
          <a:prstGeom prst="rect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55664"/>
            <a:ext cx="9875520" cy="21945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第二题 · 第（3）问  /  全样本分箱回归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457200" cy="2286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r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0020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617720" cy="50292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500" b="0">
                <a:solidFill>
                  <a:srgbClr val="2867A0"/>
                </a:solidFill>
                <a:latin typeface="Consolas"/>
                <a:ea typeface="Consolas"/>
              </a:rPr>
              <a:t>line = c(0,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4617720" cy="50292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500" b="0">
                <a:solidFill>
                  <a:srgbClr val="2867A0"/>
                </a:solidFill>
                <a:latin typeface="Consolas"/>
                <a:ea typeface="Consolas"/>
              </a:rPr>
              <a:t>line = c(2,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06040"/>
            <a:ext cx="4526280" cy="15544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500" b="0">
                <a:solidFill>
                  <a:srgbClr val="17232D"/>
                </a:solidFill>
                <a:latin typeface="Microsoft YaHei"/>
                <a:ea typeface="Microsoft YaHei"/>
              </a:rPr>
              <a:t>每个区间内使用固定值</a:t>
            </a:r>
          </a:p>
          <a:p>
            <a:pPr algn="l">
              <a:spcAft>
                <a:spcPts val="1000"/>
              </a:spcAft>
            </a:pPr>
            <a:r>
              <a:rPr sz="2500" b="0">
                <a:solidFill>
                  <a:srgbClr val="17232D"/>
                </a:solidFill>
                <a:latin typeface="Microsoft YaHei"/>
                <a:ea typeface="Microsoft YaHei"/>
              </a:rPr>
              <a:t>相邻区间可以跳跃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06040"/>
            <a:ext cx="4526280" cy="15544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500" b="0">
                <a:solidFill>
                  <a:srgbClr val="17232D"/>
                </a:solidFill>
                <a:latin typeface="Microsoft YaHei"/>
                <a:ea typeface="Microsoft YaHei"/>
              </a:rPr>
              <a:t>每个区间内允许弯曲</a:t>
            </a:r>
          </a:p>
          <a:p>
            <a:pPr algn="l">
              <a:spcAft>
                <a:spcPts val="1000"/>
              </a:spcAft>
            </a:pPr>
            <a:r>
              <a:rPr sz="2500" b="0">
                <a:solidFill>
                  <a:srgbClr val="17232D"/>
                </a:solidFill>
                <a:latin typeface="Microsoft YaHei"/>
                <a:ea typeface="Microsoft YaHei"/>
              </a:rPr>
              <a:t>相邻区间平滑连接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80160" y="4572000"/>
            <a:ext cx="1005840" cy="0"/>
          </a:xfrm>
          <a:prstGeom prst="line">
            <a:avLst/>
          </a:prstGeom>
          <a:ln w="3810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286000" y="4206240"/>
            <a:ext cx="1005840" cy="0"/>
          </a:xfrm>
          <a:prstGeom prst="line">
            <a:avLst/>
          </a:prstGeom>
          <a:ln w="3810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91840" y="4434840"/>
            <a:ext cx="914400" cy="0"/>
          </a:xfrm>
          <a:prstGeom prst="line">
            <a:avLst/>
          </a:prstGeom>
          <a:ln w="3810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06240" y="3977639"/>
            <a:ext cx="1097280" cy="0"/>
          </a:xfrm>
          <a:prstGeom prst="line">
            <a:avLst/>
          </a:prstGeom>
          <a:ln w="3810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766560" y="4550991"/>
            <a:ext cx="47548" cy="2100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814108" y="4530120"/>
            <a:ext cx="47549" cy="2087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861657" y="4509520"/>
            <a:ext cx="47549" cy="20600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909206" y="4489326"/>
            <a:ext cx="47549" cy="20194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956755" y="4469665"/>
            <a:ext cx="47549" cy="1966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004304" y="4450662"/>
            <a:ext cx="47548" cy="19003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051852" y="4432432"/>
            <a:ext cx="47549" cy="18230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099401" y="4415085"/>
            <a:ext cx="47549" cy="1734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146950" y="4398722"/>
            <a:ext cx="47549" cy="16363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194499" y="4383431"/>
            <a:ext cx="47549" cy="1529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242048" y="4369294"/>
            <a:ext cx="47548" cy="1413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289596" y="4356379"/>
            <a:ext cx="47549" cy="1291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337145" y="4344740"/>
            <a:ext cx="47549" cy="1163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384694" y="4334422"/>
            <a:ext cx="47549" cy="1031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432243" y="4325455"/>
            <a:ext cx="47549" cy="896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479792" y="4317855"/>
            <a:ext cx="47548" cy="7600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527340" y="4311624"/>
            <a:ext cx="47549" cy="623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574889" y="4306753"/>
            <a:ext cx="47549" cy="487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622438" y="4303216"/>
            <a:ext cx="47549" cy="353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669987" y="4300976"/>
            <a:ext cx="47549" cy="2240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717536" y="4299983"/>
            <a:ext cx="47548" cy="993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65084" y="4299983"/>
            <a:ext cx="47549" cy="18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812633" y="4300172"/>
            <a:ext cx="47549" cy="129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860182" y="4301469"/>
            <a:ext cx="47549" cy="231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907731" y="4303788"/>
            <a:ext cx="47549" cy="324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955280" y="4307033"/>
            <a:ext cx="47548" cy="406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02828" y="4311098"/>
            <a:ext cx="47549" cy="4772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50377" y="4315870"/>
            <a:ext cx="47549" cy="535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097926" y="4321227"/>
            <a:ext cx="47549" cy="5816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145475" y="4327043"/>
            <a:ext cx="47549" cy="6144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193024" y="4333187"/>
            <a:ext cx="47548" cy="633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40572" y="4339525"/>
            <a:ext cx="47549" cy="639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88121" y="4345920"/>
            <a:ext cx="47549" cy="6314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335670" y="4352234"/>
            <a:ext cx="47549" cy="609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83219" y="4358333"/>
            <a:ext cx="47549" cy="574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430768" y="4364081"/>
            <a:ext cx="47548" cy="526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478316" y="4369348"/>
            <a:ext cx="47549" cy="466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25865" y="4374009"/>
            <a:ext cx="47549" cy="393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573414" y="4377944"/>
            <a:ext cx="47549" cy="309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620963" y="4381041"/>
            <a:ext cx="47549" cy="2154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668512" y="4383195"/>
            <a:ext cx="47548" cy="1116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716060" y="4384306"/>
            <a:ext cx="47549" cy="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763609" y="4383107"/>
            <a:ext cx="47549" cy="119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811158" y="4380652"/>
            <a:ext cx="47549" cy="245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858707" y="4376894"/>
            <a:ext cx="47549" cy="375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906256" y="4371795"/>
            <a:ext cx="47548" cy="509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953804" y="4365335"/>
            <a:ext cx="47549" cy="6460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9001353" y="4357504"/>
            <a:ext cx="47549" cy="783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9048902" y="4348308"/>
            <a:ext cx="47549" cy="9196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096451" y="4337766"/>
            <a:ext cx="47549" cy="10542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144000" y="4325909"/>
            <a:ext cx="47548" cy="1185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191548" y="4312784"/>
            <a:ext cx="47549" cy="1312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239097" y="4298448"/>
            <a:ext cx="47549" cy="14336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286646" y="4282971"/>
            <a:ext cx="47549" cy="15477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334195" y="4266435"/>
            <a:ext cx="47549" cy="16536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9381744" y="4248933"/>
            <a:ext cx="47548" cy="17502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429292" y="4230565"/>
            <a:ext cx="47549" cy="1836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476841" y="4211443"/>
            <a:ext cx="47549" cy="19122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9524390" y="4191684"/>
            <a:ext cx="47549" cy="1975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571939" y="4171412"/>
            <a:ext cx="47549" cy="20272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619488" y="4150758"/>
            <a:ext cx="47548" cy="20654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667036" y="4129854"/>
            <a:ext cx="47549" cy="20904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14585" y="4108836"/>
            <a:ext cx="47549" cy="2101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9762134" y="4087841"/>
            <a:ext cx="47549" cy="2099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9809683" y="4067006"/>
            <a:ext cx="47549" cy="2083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9857232" y="4046465"/>
            <a:ext cx="47548" cy="2054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9904780" y="4026352"/>
            <a:ext cx="47549" cy="20113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952329" y="4006793"/>
            <a:ext cx="47549" cy="1955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999878" y="3987912"/>
            <a:ext cx="47549" cy="18881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47427" y="3969823"/>
            <a:ext cx="47549" cy="1808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094976" y="3952635"/>
            <a:ext cx="47548" cy="1718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42524" y="3936446"/>
            <a:ext cx="47549" cy="1618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0190073" y="3921344"/>
            <a:ext cx="47549" cy="15102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0237622" y="3907408"/>
            <a:ext cx="47549" cy="13936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285171" y="3894703"/>
            <a:ext cx="47549" cy="12705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332720" y="3883284"/>
            <a:ext cx="47548" cy="11419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380268" y="3873192"/>
            <a:ext cx="47549" cy="10092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0427817" y="3864454"/>
            <a:ext cx="47549" cy="8738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0475366" y="3857084"/>
            <a:ext cx="47549" cy="7370"/>
          </a:xfrm>
          <a:prstGeom prst="line">
            <a:avLst/>
          </a:prstGeom>
          <a:ln w="31750">
            <a:solidFill>
              <a:srgbClr val="2867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960120" y="5559552"/>
            <a:ext cx="10241280" cy="6400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300" b="0">
                <a:solidFill>
                  <a:srgbClr val="2867A0"/>
                </a:solidFill>
                <a:latin typeface="Microsoft YaHei"/>
                <a:ea typeface="Microsoft YaHei"/>
              </a:rPr>
              <a:t>本次两种方法均选出 27 个区间；0 和 2 不是箱数。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84632"/>
            <a:ext cx="10424160" cy="5943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17232D"/>
                </a:solidFill>
                <a:latin typeface="Microsoft YaHei"/>
                <a:ea typeface="Microsoft YaHei"/>
              </a:rPr>
              <a:t>现场运行：沿用老师的 binsreg 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557784"/>
            <a:ext cx="118872" cy="393192"/>
          </a:xfrm>
          <a:prstGeom prst="rect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55664"/>
            <a:ext cx="9875520" cy="21945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第二题 · 第（3）问  /  全样本分箱回归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457200" cy="2286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r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508760"/>
            <a:ext cx="5989320" cy="4434840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810512"/>
            <a:ext cx="5532120" cy="32004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7232D"/>
                </a:solidFill>
                <a:latin typeface="Consolas"/>
                <a:ea typeface="Consolas"/>
              </a:rPr>
              <a:t>m1 &lt;- binsreg(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7232D"/>
                </a:solidFill>
                <a:latin typeface="Consolas"/>
                <a:ea typeface="Consolas"/>
              </a:rPr>
              <a:t>  y = parcels$total_value,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7232D"/>
                </a:solidFill>
                <a:latin typeface="Consolas"/>
                <a:ea typeface="Consolas"/>
              </a:rPr>
              <a:t>  x = parcels$lot_size_acres,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7232D"/>
                </a:solidFill>
                <a:latin typeface="Consolas"/>
                <a:ea typeface="Consolas"/>
              </a:rPr>
              <a:t>  w = parcels[, "n_rooms",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7232D"/>
                </a:solidFill>
                <a:latin typeface="Consolas"/>
                <a:ea typeface="Consolas"/>
              </a:rPr>
              <a:t>              drop = FALSE],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7232D"/>
                </a:solidFill>
                <a:latin typeface="Consolas"/>
                <a:ea typeface="Consolas"/>
              </a:rPr>
              <a:t>  line = c(0, 0)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7232D"/>
                </a:solidFill>
                <a:latin typeface="Consolas"/>
                <a:ea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74920"/>
            <a:ext cx="5486400" cy="6400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2867A0"/>
                </a:solidFill>
                <a:latin typeface="Microsoft YaHei"/>
                <a:ea typeface="Microsoft YaHei"/>
              </a:rPr>
              <a:t>第二次同样调用，存为 m2；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2867A0"/>
                </a:solidFill>
                <a:latin typeface="Microsoft YaHei"/>
                <a:ea typeface="Microsoft YaHei"/>
              </a:rPr>
              <a:t>只将 line 改为 c(2, 2)。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783080"/>
            <a:ext cx="3840480" cy="73152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7232D"/>
                </a:solidFill>
                <a:latin typeface="Microsoft YaHei"/>
                <a:ea typeface="Microsoft YaHei"/>
              </a:rPr>
              <a:t>两次都相同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3840480" cy="14630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y：房屋总价值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x：土地面积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w：房间数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0" y="4160520"/>
            <a:ext cx="3794760" cy="0"/>
          </a:xfrm>
          <a:prstGeom prst="line">
            <a:avLst/>
          </a:prstGeom>
          <a:ln w="12700">
            <a:solidFill>
              <a:srgbClr val="D4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0" y="4389120"/>
            <a:ext cx="3840480" cy="118872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67A0"/>
                </a:solidFill>
                <a:latin typeface="Microsoft YaHei"/>
                <a:ea typeface="Microsoft YaHei"/>
              </a:rPr>
              <a:t>点击 Source 重新运行</a:t>
            </a:r>
          </a:p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67A0"/>
                </a:solidFill>
                <a:latin typeface="Microsoft YaHei"/>
                <a:ea typeface="Microsoft YaHei"/>
              </a:rPr>
              <a:t>再用 print(g1)、print(g2) 展示结果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84632"/>
            <a:ext cx="10424160" cy="5943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17232D"/>
                </a:solidFill>
                <a:latin typeface="Microsoft YaHei"/>
                <a:ea typeface="Microsoft YaHei"/>
              </a:rPr>
              <a:t>第一种结果：每个区间内是一条水平线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557784"/>
            <a:ext cx="118872" cy="393192"/>
          </a:xfrm>
          <a:prstGeom prst="rect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55664"/>
            <a:ext cx="9875520" cy="21945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第二题 · 第（3）问  /  全样本分箱回归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457200" cy="2286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r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05</a:t>
            </a:r>
          </a:p>
        </p:txBody>
      </p:sp>
      <p:pic>
        <p:nvPicPr>
          <p:cNvPr id="6" name="Picture 5" descr="line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6858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83080"/>
            <a:ext cx="3291840" cy="6400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300" b="1">
                <a:solidFill>
                  <a:srgbClr val="2867A0"/>
                </a:solidFill>
                <a:latin typeface="Microsoft YaHei"/>
                <a:ea typeface="Microsoft YaHei"/>
              </a:rPr>
              <a:t>先看右侧长横线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3246120" cy="31089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最后一箱覆盖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1.5–4 英亩。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箱内固定一个拟合值，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所以画成水平线。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099048"/>
            <a:ext cx="10515600" cy="338328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867A0"/>
                </a:solidFill>
                <a:latin typeface="Microsoft YaHei"/>
                <a:ea typeface="Microsoft YaHei"/>
              </a:rPr>
              <a:t>水平线是模型设定造成的，不代表真实房屋价值完全不变。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84632"/>
            <a:ext cx="10424160" cy="5943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17232D"/>
                </a:solidFill>
                <a:latin typeface="Microsoft YaHei"/>
                <a:ea typeface="Microsoft YaHei"/>
              </a:rPr>
              <a:t>第二种结果：允许区间内弯曲变化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557784"/>
            <a:ext cx="118872" cy="393192"/>
          </a:xfrm>
          <a:prstGeom prst="rect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55664"/>
            <a:ext cx="9875520" cy="21945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第二题 · 第（3）问  /  全样本分箱回归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457200" cy="2286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r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06</a:t>
            </a:r>
          </a:p>
        </p:txBody>
      </p:sp>
      <p:pic>
        <p:nvPicPr>
          <p:cNvPr id="6" name="Picture 5" descr="line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6858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83080"/>
            <a:ext cx="3291840" cy="6400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300" b="1">
                <a:solidFill>
                  <a:srgbClr val="2867A0"/>
                </a:solidFill>
                <a:latin typeface="Microsoft YaHei"/>
                <a:ea typeface="Microsoft YaHei"/>
              </a:rPr>
              <a:t>再看整体走势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3246120" cy="31089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小地块区域有起伏。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较大地块区域，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拟合价值总体上升。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17232D"/>
                </a:solidFill>
                <a:latin typeface="Microsoft YaHei"/>
                <a:ea typeface="Microsoft YaHei"/>
              </a:rPr>
              <a:t>最后一箱内也能变化。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099048"/>
            <a:ext cx="10515600" cy="338328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867A0"/>
                </a:solidFill>
                <a:latin typeface="Microsoft YaHei"/>
                <a:ea typeface="Microsoft YaHei"/>
              </a:rPr>
              <a:t>更平滑不保证更准确；局部弯曲不代表变化一定显著。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84632"/>
            <a:ext cx="10424160" cy="5943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17232D"/>
                </a:solidFill>
                <a:latin typeface="Microsoft YaHei"/>
                <a:ea typeface="Microsoft YaHei"/>
              </a:rPr>
              <a:t>比较：整体趋势相近，局部形状不同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557784"/>
            <a:ext cx="118872" cy="393192"/>
          </a:xfrm>
          <a:prstGeom prst="rect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55664"/>
            <a:ext cx="9875520" cy="21945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第二题 · 第（3）问  /  全样本分箱回归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457200" cy="2286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r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07</a:t>
            </a:r>
          </a:p>
        </p:txBody>
      </p:sp>
      <p:pic>
        <p:nvPicPr>
          <p:cNvPr id="6" name="Picture 5" descr="comparison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10789920" cy="39839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32720" cy="40233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67A0"/>
                </a:solidFill>
                <a:latin typeface="Microsoft YaHei"/>
                <a:ea typeface="Microsoft YaHei"/>
              </a:rPr>
              <a:t>共同点：较大地块总体正向。差异：是否允许同一箱内变化。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84632"/>
            <a:ext cx="10424160" cy="59436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17232D"/>
                </a:solidFill>
                <a:latin typeface="Microsoft YaHei"/>
                <a:ea typeface="Microsoft YaHei"/>
              </a:rPr>
              <a:t>本小问结论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557784"/>
            <a:ext cx="118872" cy="393192"/>
          </a:xfrm>
          <a:prstGeom prst="rect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55664"/>
            <a:ext cx="9875520" cy="219456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第二题 · 第（3）问  /  全样本分箱回归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457200" cy="22860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r">
              <a:spcAft>
                <a:spcPts val="1000"/>
              </a:spcAft>
            </a:pPr>
            <a:r>
              <a:rPr sz="1000" b="0">
                <a:solidFill>
                  <a:srgbClr val="566571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645920"/>
            <a:ext cx="457200" cy="457200"/>
          </a:xfrm>
          <a:prstGeom prst="ellipse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68780"/>
            <a:ext cx="457200" cy="329184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27632"/>
            <a:ext cx="3474720" cy="438912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7232D"/>
                </a:solidFill>
                <a:latin typeface="Microsoft YaHei"/>
                <a:ea typeface="Microsoft YaHei"/>
              </a:rPr>
              <a:t>使用全样本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2194560"/>
            <a:ext cx="3474720" cy="7772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194560"/>
            <a:ext cx="9326880" cy="6400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66571"/>
                </a:solidFill>
                <a:latin typeface="Microsoft YaHei"/>
                <a:ea typeface="Microsoft YaHei"/>
              </a:rPr>
              <a:t>100,000 条记录，线性控制房间数。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03220"/>
            <a:ext cx="457200" cy="329184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862072"/>
            <a:ext cx="3474720" cy="438912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7232D"/>
                </a:solidFill>
                <a:latin typeface="Microsoft YaHei"/>
                <a:ea typeface="Microsoft YaHei"/>
              </a:rPr>
              <a:t>两种设定共同显示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3429000"/>
            <a:ext cx="3474720" cy="7772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429000"/>
            <a:ext cx="9326880" cy="6400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66571"/>
                </a:solidFill>
                <a:latin typeface="Microsoft YaHei"/>
                <a:ea typeface="Microsoft YaHei"/>
              </a:rPr>
              <a:t>小地块有起伏，较大地块总体正向。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14800"/>
            <a:ext cx="457200" cy="457200"/>
          </a:xfrm>
          <a:prstGeom prst="ellipse">
            <a:avLst/>
          </a:prstGeom>
          <a:solidFill>
            <a:srgbClr val="286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37660"/>
            <a:ext cx="457200" cy="329184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096512"/>
            <a:ext cx="3474720" cy="438912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7232D"/>
                </a:solidFill>
                <a:latin typeface="Microsoft YaHei"/>
                <a:ea typeface="Microsoft YaHei"/>
              </a:rPr>
              <a:t>解释时保持边界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663440"/>
            <a:ext cx="3474720" cy="77724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566571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663440"/>
            <a:ext cx="9326880" cy="64008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66571"/>
                </a:solidFill>
                <a:latin typeface="Microsoft YaHei"/>
                <a:ea typeface="Microsoft YaHei"/>
              </a:rPr>
              <a:t>形状受设定影响，不能直接解释为因果效应。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806440"/>
            <a:ext cx="10149840" cy="502920"/>
          </a:xfrm>
          <a:prstGeom prst="rect">
            <a:avLst/>
          </a:prstGeom>
          <a:noFill/>
        </p:spPr>
        <p:txBody>
          <a:bodyPr wrap="square" lIns="18288" rIns="18288" tIns="27432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2300" b="0">
                <a:solidFill>
                  <a:srgbClr val="2867A0"/>
                </a:solidFill>
                <a:latin typeface="Microsoft YaHei"/>
                <a:ea typeface="Microsoft YaHei"/>
              </a:rPr>
              <a:t>下一问：只保留五间房的房子，结果还一样吗？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874</Words>
  <Application>WPS 文字</Application>
  <PresentationFormat>宽屏</PresentationFormat>
  <Paragraphs>157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30" baseType="lpstr">
      <vt:lpstr>Arial</vt:lpstr>
      <vt:lpstr>宋体</vt:lpstr>
      <vt:lpstr>Wingdings</vt:lpstr>
      <vt:lpstr>Wingdings</vt:lpstr>
      <vt:lpstr>方正大黑_GBK</vt:lpstr>
      <vt:lpstr>汉仪中黑KW</vt:lpstr>
      <vt:lpstr>Songti SC</vt:lpstr>
      <vt:lpstr>Songti SC Regular</vt:lpstr>
      <vt:lpstr>方正兰亭黑_GBK</vt:lpstr>
      <vt:lpstr>Arial Unicode MS</vt:lpstr>
      <vt:lpstr>微软雅黑</vt:lpstr>
      <vt:lpstr>苹方-简</vt:lpstr>
      <vt:lpstr>微软雅黑</vt:lpstr>
      <vt:lpstr>汉仪旗黑</vt:lpstr>
      <vt:lpstr>汉仪书宋二KW</vt:lpstr>
      <vt:lpstr>宋体</vt:lpstr>
      <vt:lpstr>微软雅黑</vt:lpstr>
      <vt:lpstr>方正兰亭黑_GBK</vt:lpstr>
      <vt:lpstr>方正大黑_GBK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第二题第（3）问：全样本分箱回归</dc:title>
  <dc:creator/>
  <cp:lastModifiedBy/>
  <cp:revision>166</cp:revision>
  <dcterms:created xsi:type="dcterms:W3CDTF">2026-10-20T06:59:09Z</dcterms:created>
  <dcterms:modified xsi:type="dcterms:W3CDTF">2026-10-20T06:59:09Z</dcterms:modified>
  <dc:subject>依据用户提供的小组 PPT 模板制作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E8651697A6756D828309D76A64792FB4_43</vt:lpwstr>
  </property>
</Properties>
</file>