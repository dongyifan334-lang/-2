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7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接在小组第二题第（2）问后】我负责第三小问：在线性控制房间数以后，土地面积与房屋总价值之间有什么关系。这里用全样本，五间房样本是下一小问的内容。本页沿用组员模板的分节样式，不重复整组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【先讲人话】老师让我们比较两种方法画出的关系。大地块房子也可能有更多房间，所以要把房间数一起考虑。土地面积是地块面积，不是室内面积；总价值按数据原单位解释，不擅自称为成交价。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解释分箱】箱就是土地面积区间。软件把土地面积划成若干区间，本次两次都选出27箱。第一种箱内常数，第二种是二次样条。第二个数字2表示连接处函数值和一阶导数连续，通俗说就是高度和倾斜程度平滑衔接。两个2不是两个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操作】切到RStudio，打开question2_3.R。先设置工作目录到脚本所在目录，再点Source，等Console重新出现&gt;。这页展示的是脚本核心调用，不是另写一套模型。左侧y是总价值，x是土地面积，w是房间数；drop=FALSE保留数据框结构。m1存第一组结果，m2存第二组。两次调用前均set.seed(407)，固定随机选择过程。老师代码中其他分箱参数保持默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输入print(g1)，Zoom】横轴是土地面积，纵轴是调整房间数后的拟合总价值。蓝点不是单套房，而是分箱代表性拟合点。最后一箱1.5到4英亩，共3671条记录，拟合值约58.5万。它水平是因为箱内只能常数，不表示增加土地没有价值。横线不是置信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输入print(g2)，Zoom】二次样条在连接处平滑。小地块区域仍有波动，不能称为全程单调上升。约1英亩以后总体向上。接近4英亩的绘图网格拟合值约65万。图中未画置信区间，不判断每个局部变化是否显著。两张单图纵轴刻度不同，比较要看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图使用相同样本、控制相同变量。这里用相同纵轴尺度并排看，避免原始单图自动坐标刻度影响视觉判断。左边是阶梯，右边可弯曲；较大地块区域总体正向，但细节与尾部走势受拟合设定影响。图中没有置信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】我使用全部十万条记录，线性控制房间数，比较了老师要求的两种分箱回归。关系不是简单的一条直线，较大地块区域总体正向。控制房间数仍不能排除地段、房龄等其他因素，所以不作因果结论。下面交给下一位同学，在五间房样本中重复分析并讨论因果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4370522" cy="6858000"/>
          </a:xfrm>
          <a:prstGeom prst="rect">
            <a:avLst/>
          </a:prstGeom>
          <a:solidFill>
            <a:srgbClr val="102940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213711" y="1855833"/>
            <a:ext cx="1943100" cy="19431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07" y="2262779"/>
            <a:ext cx="1129208" cy="11292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2057400"/>
            <a:ext cx="6035040" cy="5486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>
                <a:solidFill>
                  <a:srgbClr val="2867A0"/>
                </a:solidFill>
                <a:latin typeface="Microsoft YaHei"/>
                <a:ea typeface="Microsoft YaHei"/>
              </a:rPr>
              <a:t>第二题  第（3）问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71800"/>
            <a:ext cx="6492240" cy="11887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0">
                <a:solidFill>
                  <a:srgbClr val="17232D"/>
                </a:solidFill>
                <a:latin typeface="Microsoft YaHei"/>
                <a:ea typeface="Microsoft YaHei"/>
              </a:rPr>
              <a:t>土地面积与房屋总价值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389120"/>
            <a:ext cx="5852160" cy="7315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66571"/>
                </a:solidFill>
                <a:latin typeface="Microsoft YaHei"/>
                <a:ea typeface="Microsoft YaHei"/>
              </a:rPr>
              <a:t>全样本分析 · 线性控制房间数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这一问要我们做什么？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52760" cy="9144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0">
                <a:solidFill>
                  <a:srgbClr val="17232D"/>
                </a:solidFill>
                <a:latin typeface="Microsoft YaHei"/>
                <a:ea typeface="Microsoft YaHei"/>
              </a:rPr>
              <a:t>考虑房间数差异后，</a:t>
            </a:r>
          </a:p>
          <a:p>
            <a:pPr algn="l">
              <a:spcAft>
                <a:spcPts val="1000"/>
              </a:spcAft>
            </a:pPr>
            <a:r>
              <a:rPr sz="2900" b="0">
                <a:solidFill>
                  <a:srgbClr val="17232D"/>
                </a:solidFill>
                <a:latin typeface="Microsoft YaHei"/>
                <a:ea typeface="Microsoft YaHei"/>
              </a:rPr>
              <a:t>土地更大的房子，总价值通常也更高吗？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788920"/>
            <a:ext cx="10241280" cy="0"/>
          </a:xfrm>
          <a:prstGeom prst="line">
            <a:avLst/>
          </a:prstGeom>
          <a:ln w="12700">
            <a:solidFill>
              <a:srgbClr val="D4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1821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看什么结果？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749039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total_value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房屋总价值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31821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研究什么关系？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lot_size_acres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土地面积，单位英亩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2004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232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182112"/>
            <a:ext cx="2679191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一起考虑什么？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749039"/>
            <a:ext cx="2679191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n_rooms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>房间数，线性控制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04104"/>
            <a:ext cx="9966960" cy="411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867A0"/>
                </a:solidFill>
                <a:latin typeface="Microsoft YaHei"/>
                <a:ea typeface="Microsoft YaHei"/>
              </a:rPr>
              <a:t>使用全部 100,000 条记录，没有只保留五间房。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两种方法：同一批房子，不同的拟合方式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61772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2867A0"/>
                </a:solidFill>
                <a:latin typeface="Consolas"/>
                <a:ea typeface="Consolas"/>
              </a:rPr>
              <a:t>line = c(0,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1772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2867A0"/>
                </a:solidFill>
                <a:latin typeface="Consolas"/>
                <a:ea typeface="Consolas"/>
              </a:rPr>
              <a:t>line = c(2,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526280" cy="1554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每个区间内使用固定值</a:t>
            </a:r>
          </a:p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相邻区间可以跳跃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526280" cy="15544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每个区间内允许弯曲</a:t>
            </a:r>
          </a:p>
          <a:p>
            <a:pPr algn="l">
              <a:spcAft>
                <a:spcPts val="1000"/>
              </a:spcAft>
            </a:pPr>
            <a:r>
              <a:rPr sz="2500" b="0">
                <a:solidFill>
                  <a:srgbClr val="17232D"/>
                </a:solidFill>
                <a:latin typeface="Microsoft YaHei"/>
                <a:ea typeface="Microsoft YaHei"/>
              </a:rPr>
              <a:t>相邻区间平滑连接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572000"/>
            <a:ext cx="100584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4206240"/>
            <a:ext cx="100584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4434840"/>
            <a:ext cx="91440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3977639"/>
            <a:ext cx="1097280" cy="0"/>
          </a:xfrm>
          <a:prstGeom prst="line">
            <a:avLst/>
          </a:prstGeom>
          <a:ln w="3810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766560" y="4550991"/>
            <a:ext cx="47548" cy="2100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14108" y="4530120"/>
            <a:ext cx="47549" cy="2087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61657" y="4509520"/>
            <a:ext cx="47549" cy="2060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09206" y="4489326"/>
            <a:ext cx="47549" cy="2019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56755" y="4469665"/>
            <a:ext cx="47549" cy="1966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04304" y="4450662"/>
            <a:ext cx="47548" cy="1900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51852" y="4432432"/>
            <a:ext cx="47549" cy="1823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99401" y="4415085"/>
            <a:ext cx="47549" cy="1734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46950" y="4398722"/>
            <a:ext cx="47549" cy="1636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94499" y="4383431"/>
            <a:ext cx="47549" cy="1529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242048" y="4369294"/>
            <a:ext cx="47548" cy="1413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89596" y="4356379"/>
            <a:ext cx="47549" cy="1291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37145" y="4344740"/>
            <a:ext cx="47549" cy="1163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84694" y="4334422"/>
            <a:ext cx="47549" cy="1031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32243" y="4325455"/>
            <a:ext cx="47549" cy="896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79792" y="4317855"/>
            <a:ext cx="47548" cy="760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27340" y="4311624"/>
            <a:ext cx="47549" cy="623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574889" y="4306753"/>
            <a:ext cx="47549" cy="487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22438" y="4303216"/>
            <a:ext cx="47549" cy="353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69987" y="4300976"/>
            <a:ext cx="47549" cy="224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17536" y="4299983"/>
            <a:ext cx="47548" cy="99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65084" y="4299983"/>
            <a:ext cx="47549" cy="1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12633" y="4300172"/>
            <a:ext cx="47549" cy="129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0182" y="4301469"/>
            <a:ext cx="47549" cy="231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07731" y="4303788"/>
            <a:ext cx="47549" cy="324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55280" y="4307033"/>
            <a:ext cx="47548" cy="406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02828" y="4311098"/>
            <a:ext cx="47549" cy="477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50377" y="4315870"/>
            <a:ext cx="47549" cy="535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97926" y="4321227"/>
            <a:ext cx="47549" cy="581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45475" y="4327043"/>
            <a:ext cx="47549" cy="614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193024" y="4333187"/>
            <a:ext cx="47548" cy="633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40572" y="4339525"/>
            <a:ext cx="47549" cy="639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88121" y="4345920"/>
            <a:ext cx="47549" cy="631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335670" y="4352234"/>
            <a:ext cx="47549" cy="60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83219" y="4358333"/>
            <a:ext cx="47549" cy="574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30768" y="4364081"/>
            <a:ext cx="47548" cy="526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78316" y="4369348"/>
            <a:ext cx="47549" cy="466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25865" y="4374009"/>
            <a:ext cx="47549" cy="393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73414" y="4377944"/>
            <a:ext cx="47549" cy="309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620963" y="4381041"/>
            <a:ext cx="47549" cy="215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668512" y="4383195"/>
            <a:ext cx="47548" cy="111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16060" y="4384306"/>
            <a:ext cx="47549" cy="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63609" y="4383107"/>
            <a:ext cx="47549" cy="11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811158" y="4380652"/>
            <a:ext cx="47549" cy="245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58707" y="4376894"/>
            <a:ext cx="47549" cy="375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906256" y="4371795"/>
            <a:ext cx="47548" cy="509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953804" y="4365335"/>
            <a:ext cx="47549" cy="646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001353" y="4357504"/>
            <a:ext cx="47549" cy="783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48902" y="4348308"/>
            <a:ext cx="47549" cy="919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096451" y="4337766"/>
            <a:ext cx="47549" cy="1054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144000" y="4325909"/>
            <a:ext cx="47548" cy="1185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191548" y="4312784"/>
            <a:ext cx="47549" cy="1312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39097" y="4298448"/>
            <a:ext cx="47549" cy="143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86646" y="4282971"/>
            <a:ext cx="47549" cy="15477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334195" y="4266435"/>
            <a:ext cx="47549" cy="165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381744" y="4248933"/>
            <a:ext cx="47548" cy="1750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429292" y="4230565"/>
            <a:ext cx="47549" cy="1836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476841" y="4211443"/>
            <a:ext cx="47549" cy="1912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524390" y="4191684"/>
            <a:ext cx="47549" cy="1975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571939" y="4171412"/>
            <a:ext cx="47549" cy="2027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619488" y="4150758"/>
            <a:ext cx="47548" cy="2065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667036" y="4129854"/>
            <a:ext cx="47549" cy="20904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714585" y="4108836"/>
            <a:ext cx="47549" cy="2101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762134" y="4087841"/>
            <a:ext cx="47549" cy="2099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809683" y="4067006"/>
            <a:ext cx="47549" cy="2083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857232" y="4046465"/>
            <a:ext cx="47548" cy="2054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04780" y="4026352"/>
            <a:ext cx="47549" cy="20113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952329" y="4006793"/>
            <a:ext cx="47549" cy="1955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999878" y="3987912"/>
            <a:ext cx="47549" cy="18881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47427" y="3969823"/>
            <a:ext cx="47549" cy="180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094976" y="3952635"/>
            <a:ext cx="47548" cy="1718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142524" y="3936446"/>
            <a:ext cx="47549" cy="1618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190073" y="3921344"/>
            <a:ext cx="47549" cy="1510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237622" y="3907408"/>
            <a:ext cx="47549" cy="13936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285171" y="3894703"/>
            <a:ext cx="47549" cy="12705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332720" y="3883284"/>
            <a:ext cx="47548" cy="11419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380268" y="3873192"/>
            <a:ext cx="47549" cy="10092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427817" y="3864454"/>
            <a:ext cx="47549" cy="8738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475366" y="3857084"/>
            <a:ext cx="47549" cy="7370"/>
          </a:xfrm>
          <a:prstGeom prst="line">
            <a:avLst/>
          </a:prstGeom>
          <a:ln w="31750">
            <a:solidFill>
              <a:srgbClr val="286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60120" y="5559552"/>
            <a:ext cx="102412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0">
                <a:solidFill>
                  <a:srgbClr val="2867A0"/>
                </a:solidFill>
                <a:latin typeface="Microsoft YaHei"/>
                <a:ea typeface="Microsoft YaHei"/>
              </a:rPr>
              <a:t>本次两种方法均选出 27 个区间；0 和 2 不是箱数。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现场运行：沿用老师的 binsreg 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5989320" cy="4434840"/>
          </a:xfrm>
          <a:prstGeom prst="roundRect">
            <a:avLst>
              <a:gd name="adj" fmla="val 8000"/>
            </a:avLst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10512"/>
            <a:ext cx="5532120" cy="32004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m1 &lt;- binsreg(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y = parcels$total_value,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x = parcels$lot_size_acres,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w = parcels[, "n_rooms",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            drop = FALSE],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  line = c(0, 0)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32D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548640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867A0"/>
                </a:solidFill>
                <a:latin typeface="Microsoft YaHei"/>
                <a:ea typeface="Microsoft YaHei"/>
              </a:rPr>
              <a:t>第二次同样调用，存为 m2；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867A0"/>
                </a:solidFill>
                <a:latin typeface="Microsoft YaHei"/>
                <a:ea typeface="Microsoft YaHei"/>
              </a:rPr>
              <a:t>只将 line 改为 c(2, 2)。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3840480" cy="7315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7232D"/>
                </a:solidFill>
                <a:latin typeface="Microsoft YaHei"/>
                <a:ea typeface="Microsoft YaHei"/>
              </a:rPr>
              <a:t>两次都相同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3840480" cy="1463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y：房屋总价值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x：土地面积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w：房间数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4160520"/>
            <a:ext cx="3794760" cy="0"/>
          </a:xfrm>
          <a:prstGeom prst="line">
            <a:avLst/>
          </a:prstGeom>
          <a:ln w="12700">
            <a:solidFill>
              <a:srgbClr val="D4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4389120"/>
            <a:ext cx="3840480" cy="11887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点击 Source 重新运行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再用 print(g1)、print(g2) 展示结果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第一种结果：每个区间内是一条水平线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05</a:t>
            </a:r>
          </a:p>
        </p:txBody>
      </p:sp>
      <p:pic>
        <p:nvPicPr>
          <p:cNvPr id="6" name="Picture 5" descr="line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83080"/>
            <a:ext cx="329184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1">
                <a:solidFill>
                  <a:srgbClr val="2867A0"/>
                </a:solidFill>
                <a:latin typeface="Microsoft YaHei"/>
                <a:ea typeface="Microsoft YaHei"/>
              </a:rPr>
              <a:t>先看右侧长横线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06040"/>
            <a:ext cx="3246120" cy="31089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最后一箱覆盖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1.5–4 英亩。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箱内固定一个拟合值，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所以画成水平线。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99048"/>
            <a:ext cx="10515600" cy="3383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867A0"/>
                </a:solidFill>
                <a:latin typeface="Microsoft YaHei"/>
                <a:ea typeface="Microsoft YaHei"/>
              </a:rPr>
              <a:t>水平线是模型设定造成的，不代表真实房屋价值完全不变。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第二种结果：允许区间内弯曲变化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06</a:t>
            </a:r>
          </a:p>
        </p:txBody>
      </p:sp>
      <p:pic>
        <p:nvPicPr>
          <p:cNvPr id="6" name="Picture 5" descr="lin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83080"/>
            <a:ext cx="329184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1">
                <a:solidFill>
                  <a:srgbClr val="2867A0"/>
                </a:solidFill>
                <a:latin typeface="Microsoft YaHei"/>
                <a:ea typeface="Microsoft YaHei"/>
              </a:rPr>
              <a:t>再看整体走势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06040"/>
            <a:ext cx="3246120" cy="31089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小地块区域有起伏。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较大地块区域，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拟合价值总体上升。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7232D"/>
                </a:solidFill>
                <a:latin typeface="Microsoft YaHei"/>
                <a:ea typeface="Microsoft YaHei"/>
              </a:rPr>
              <a:t>最后一箱内也能变化。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99048"/>
            <a:ext cx="10515600" cy="3383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867A0"/>
                </a:solidFill>
                <a:latin typeface="Microsoft YaHei"/>
                <a:ea typeface="Microsoft YaHei"/>
              </a:rPr>
              <a:t>更平滑不保证更准确；局部弯曲不代表变化一定显著。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比较：整体趋势相近，局部形状不同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07</a:t>
            </a:r>
          </a:p>
        </p:txBody>
      </p:sp>
      <p:pic>
        <p:nvPicPr>
          <p:cNvPr id="6" name="Picture 5" descr="comparis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10789920" cy="3983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3272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2867A0"/>
                </a:solidFill>
                <a:latin typeface="Microsoft YaHei"/>
                <a:ea typeface="Microsoft YaHei"/>
              </a:rPr>
              <a:t>共同点：较大地块总体正向。差异：是否允许同一箱内变化。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484632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17232D"/>
                </a:solidFill>
                <a:latin typeface="Microsoft YaHei"/>
                <a:ea typeface="Microsoft YaHei"/>
              </a:rPr>
              <a:t>本小问结论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557784"/>
            <a:ext cx="118872" cy="393192"/>
          </a:xfrm>
          <a:prstGeom prst="rect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55664"/>
            <a:ext cx="9875520" cy="21945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第二题 · 第（3）问  /  全样本分箱回归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566571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878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2763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使用全样本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9456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9456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100,000 条记录，线性控制房间数。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0322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6207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两种设定共同显示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42900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42900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小地块有起伏，较大地块总体正向。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28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37660"/>
            <a:ext cx="45720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96512"/>
            <a:ext cx="3474720" cy="43891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7232D"/>
                </a:solidFill>
                <a:latin typeface="Microsoft YaHei"/>
                <a:ea typeface="Microsoft YaHei"/>
              </a:rPr>
              <a:t>解释时保持边界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663440"/>
            <a:ext cx="347472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566571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663440"/>
            <a:ext cx="9326880" cy="64008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566571"/>
                </a:solidFill>
                <a:latin typeface="Microsoft YaHei"/>
                <a:ea typeface="Microsoft YaHei"/>
              </a:rPr>
              <a:t>形状受设定影响，不能直接解释为因果效应。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1014984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300" b="0">
                <a:solidFill>
                  <a:srgbClr val="2867A0"/>
                </a:solidFill>
                <a:latin typeface="Microsoft YaHei"/>
                <a:ea typeface="Microsoft YaHei"/>
              </a:rPr>
              <a:t>下一问：只保留五间房的房子，结果还一样吗？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WPS 文字</Application>
  <PresentationFormat>宽屏</PresentationFormat>
  <Paragraphs>157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方正大黑_GBK</vt:lpstr>
      <vt:lpstr>汉仪中黑KW</vt:lpstr>
      <vt:lpstr>Songti SC</vt:lpstr>
      <vt:lpstr>Songti SC Regular</vt:lpstr>
      <vt:lpstr>方正兰亭黑_GBK</vt:lpstr>
      <vt:lpstr>Arial Unicode MS</vt:lpstr>
      <vt:lpstr>微软雅黑</vt:lpstr>
      <vt:lpstr>苹方-简</vt:lpstr>
      <vt:lpstr>微软雅黑</vt:lpstr>
      <vt:lpstr>汉仪旗黑</vt:lpstr>
      <vt:lpstr>汉仪书宋二KW</vt:lpstr>
      <vt:lpstr>宋体</vt:lpstr>
      <vt:lpstr>微软雅黑</vt:lpstr>
      <vt:lpstr>方正兰亭黑_GBK</vt:lpstr>
      <vt:lpstr>方正大黑_GBK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第二题第（3）问：全样本分箱回归</dc:title>
  <dc:creator/>
  <cp:lastModifiedBy/>
  <cp:revision>166</cp:revision>
  <dcterms:created xsi:type="dcterms:W3CDTF">2026-10-20T06:59:09Z</dcterms:created>
  <dcterms:modified xsi:type="dcterms:W3CDTF">2026-10-20T06:59:09Z</dcterms:modified>
  <dc:subject>依据用户提供的小组 PPT 模板制作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E8651697A6756D828309D76A64792FB4_43</vt:lpwstr>
  </property>
</Properties>
</file>