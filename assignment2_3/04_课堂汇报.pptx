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我负责第二题第三小问，研究的是在线性控制房间数以后，土地面积与房屋总价值之间的关系。土地面积是地块面积，不是室内面积。大地块房屋也可能有更多房间，所以我们把房间数一起放进回归。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我把模型写成：总价值等于土地面积的函数，加上房间数的线性项，再加误差。这里土地面积的关系可以弯曲，房间数用一个线性系数控制。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接下来是老师提供的两次 binsreg 回归。两次的 y、x、w 相同，分别是总价值、土地面积和房间数。区别在 line 设置：零零是分段常数，二二是二次样条。两次设置相同随机种子，方便重复比较。现在我现场运行整份脚本。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第一张图中，每个土地面积区间内只估计一个固定高度，区间之间允许跳跃。右侧长横线是因为最后一箱较宽，而且箱内只能是常数，不能解释为增加土地没有价值。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第二张图允许区间内使用二次曲线，并在连接处平滑。小地块区域仍有明显起伏；较大地块区域的拟合价值总体上升。与第一张图相比，它能够表达同一箱内的变化。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方法共同显示，这种关系不是简单的一条直线；较大地块区域总体呈正向关系。但局部形状受拟合设定影响，曲线更平滑也不保证更准确。控制房间数仍不足以排除地段、房龄等因素，因此不能仅凭这两张图作因果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此页可作为讲台备忘。正式演示可以从第 3 页切换到 RStudio，展示代码并 Source，然后展示两张图。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BAE 407   /   ASSIGNMENT 2   /   QUESTION II(3)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F5F"/>
                </a:solidFill>
                <a:latin typeface="Microsoft YaHei"/>
              </a:defRPr>
            </a:pPr>
            <a:r>
              <a:t>土地面积与房屋总价值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汇报人：请填写姓名与组别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73F5F"/>
                </a:solidFill>
                <a:latin typeface="Microsoft YaHei"/>
              </a:defRPr>
            </a:pPr>
            <a:r>
              <a:t>考虑房间数差异后，</a:t>
            </a:r>
          </a:p>
          <a:p>
            <a:pPr>
              <a:spcAft>
                <a:spcPts val="1200"/>
              </a:spcAft>
              <a:defRPr sz="3400" b="1">
                <a:solidFill>
                  <a:srgbClr val="173F5F"/>
                </a:solidFill>
                <a:latin typeface="Microsoft YaHei"/>
              </a:defRPr>
            </a:pPr>
            <a:r>
              <a:t>土地更大的房子，总价值也更高吗？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73F5F"/>
                </a:solidFill>
                <a:latin typeface="Microsoft YaHei"/>
              </a:defRPr>
            </a:pPr>
            <a:r>
              <a:t>全样本 100,000 条记录</a:t>
            </a:r>
          </a:p>
          <a:p>
            <a:pPr>
              <a:spcAft>
                <a:spcPts val="1200"/>
              </a:spcAft>
              <a:defRPr sz="2300" b="0">
                <a:solidFill>
                  <a:srgbClr val="173F5F"/>
                </a:solidFill>
                <a:latin typeface="Microsoft YaHei"/>
              </a:defRPr>
            </a:pPr>
            <a:r>
              <a:t>沿用老师的 binsreg 代码，比较两种指定拟合方式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BAE 407   /   ASSIGNMENT 2   /   QUESTION II(3)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F5F"/>
                </a:solidFill>
                <a:latin typeface="Microsoft YaHei"/>
              </a:defRPr>
            </a:pPr>
            <a:r>
              <a:t>先理解三个变量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土地面积 ≠ 室内面积；全样本 ≠ 只选五间房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y：total_value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房屋总价值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x：lot_size_acres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地块面积，单位英亩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w：n_rooms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房间数，线性控制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目的：把房间数差异纳入模型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173F5F"/>
                </a:solidFill>
                <a:latin typeface="Microsoft YaHei"/>
              </a:defRPr>
            </a:pPr>
            <a:r>
              <a:t>总价值 = g(土地面积) + γ × 房间数 + 误差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BAE 407   /   ASSIGNMENT 2   /   QUESTION II(3)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F5F"/>
                </a:solidFill>
                <a:latin typeface="Microsoft YaHei"/>
              </a:defRPr>
            </a:pPr>
            <a:r>
              <a:t>同一批数据，两种拟合方式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分箱：把横轴划成区间；本次两次都选出 27 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173F5F"/>
                </a:solidFill>
                <a:latin typeface="Microsoft YaHei"/>
              </a:defRPr>
            </a:pPr>
            <a:r>
              <a:t>line = c(0, 0)</a:t>
            </a:r>
          </a:p>
          <a:p>
            <a:pPr>
              <a:spcAft>
                <a:spcPts val="1200"/>
              </a:spcAft>
              <a:defRPr sz="2700" b="0">
                <a:solidFill>
                  <a:srgbClr val="173F5F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2700" b="0">
                <a:solidFill>
                  <a:srgbClr val="173F5F"/>
                </a:solidFill>
                <a:latin typeface="Microsoft YaHei"/>
              </a:defRPr>
            </a:pPr>
            <a:r>
              <a:t>每箱内固定一个高度</a:t>
            </a:r>
          </a:p>
          <a:p>
            <a:pPr>
              <a:spcAft>
                <a:spcPts val="1200"/>
              </a:spcAft>
              <a:defRPr sz="2700" b="0">
                <a:solidFill>
                  <a:srgbClr val="173F5F"/>
                </a:solidFill>
                <a:latin typeface="Microsoft YaHei"/>
              </a:defRPr>
            </a:pPr>
            <a:r>
              <a:t>箱间可以跳跃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173F5F"/>
                </a:solidFill>
                <a:latin typeface="Microsoft YaHei"/>
              </a:defRPr>
            </a:pPr>
            <a:r>
              <a:t>line = c(2, 2)</a:t>
            </a:r>
          </a:p>
          <a:p>
            <a:pPr>
              <a:spcAft>
                <a:spcPts val="1200"/>
              </a:spcAft>
              <a:defRPr sz="2700" b="0">
                <a:solidFill>
                  <a:srgbClr val="173F5F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2700" b="0">
                <a:solidFill>
                  <a:srgbClr val="173F5F"/>
                </a:solidFill>
                <a:latin typeface="Microsoft YaHei"/>
              </a:defRPr>
            </a:pPr>
            <a:r>
              <a:t>每箱内为二次曲线</a:t>
            </a:r>
          </a:p>
          <a:p>
            <a:pPr>
              <a:spcAft>
                <a:spcPts val="1200"/>
              </a:spcAft>
              <a:defRPr sz="2700" b="0">
                <a:solidFill>
                  <a:srgbClr val="173F5F"/>
                </a:solidFill>
                <a:latin typeface="Microsoft YaHei"/>
              </a:defRPr>
            </a:pPr>
            <a:r>
              <a:t>连接处函数值、斜率连续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F5F"/>
                </a:solidFill>
                <a:latin typeface="Microsoft YaHei"/>
              </a:defRPr>
            </a:pPr>
            <a:r>
              <a:t>0 和 2 指拟合设定，不是分箱数量。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BAE 407   /   ASSIGNMENT 2   /   QUESTION II(3)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F5F"/>
                </a:solidFill>
                <a:latin typeface="Microsoft YaHei"/>
              </a:defRPr>
            </a:pPr>
            <a:r>
              <a:t>结果一｜分段常数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横轴：土地面积（英亩）  ｜  纵轴：拟合总价值（原单位）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4</a:t>
            </a:r>
          </a:p>
        </p:txBody>
      </p:sp>
      <p:pic>
        <p:nvPicPr>
          <p:cNvPr id="6" name="Picture 5" descr="line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54480"/>
            <a:ext cx="64465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73F5F"/>
                </a:solidFill>
                <a:latin typeface="Microsoft YaHei"/>
              </a:defRPr>
            </a:pPr>
            <a:r>
              <a:t>长横线来自箱内常数约束，不表示现实中的房屋价值固定。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BAE 407   /   ASSIGNMENT 2   /   QUESTION II(3)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F5F"/>
                </a:solidFill>
                <a:latin typeface="Microsoft YaHei"/>
              </a:defRPr>
            </a:pPr>
            <a:r>
              <a:t>结果二｜二次样条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横轴：土地面积（英亩）  ｜  纵轴：拟合总价值（原单位）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5</a:t>
            </a:r>
          </a:p>
        </p:txBody>
      </p:sp>
      <p:pic>
        <p:nvPicPr>
          <p:cNvPr id="6" name="Picture 5" descr="lin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54480"/>
            <a:ext cx="64465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73F5F"/>
                </a:solidFill>
                <a:latin typeface="Microsoft YaHei"/>
              </a:defRPr>
            </a:pPr>
            <a:r>
              <a:t>小地块区域有起伏；较大地块区域的拟合曲线总体上升。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BAE 407   /   ASSIGNMENT 2   /   QUESTION II(3)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F5F"/>
                </a:solidFill>
                <a:latin typeface="Microsoft YaHei"/>
              </a:defRPr>
            </a:pPr>
            <a:r>
              <a:t>比较与结论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图中未展示置信区间，不据此判断局部变化是否显著。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共同发现：小地块区域起伏，较大地块区域总体正向。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设定差异：常数拟合箱内水平；二次样条允许箱内变化。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解释边界：更平滑不保证更准确；控制房间数不等于因果识别。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BAE 407   /   ASSIGNMENT 2   /   QUESTION II(3)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73F5F"/>
                </a:solidFill>
                <a:latin typeface="Microsoft YaHei"/>
              </a:defRPr>
            </a:pPr>
            <a:r>
              <a:t>现场运行：四个动作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课前安装好软件与包，并在学校电脑完整试跑。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57589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1. 打开 question2_3.R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2. Session → Set Working Directory → To Source File Location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3. 点击 Source，等待 Console 再次出现 &gt;</a:t>
            </a:r>
          </a:p>
          <a:p>
            <a:pPr>
              <a:spcAft>
                <a:spcPts val="1200"/>
              </a:spcAft>
              <a:defRPr sz="2500" b="0">
                <a:solidFill>
                  <a:srgbClr val="173F5F"/>
                </a:solidFill>
                <a:latin typeface="Microsoft YaHei"/>
              </a:defRPr>
            </a:pPr>
            <a:r>
              <a:t>4. print(g1) → Zoom；关闭后 print(g2) → Zoom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